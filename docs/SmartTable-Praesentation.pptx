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con-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146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BF7D0"/>
                </a:solidFill>
                <a:latin typeface="Consolas"/>
              </a:rPr>
              <a:t>PROJEKT-PRÄSENTATION · SCHULPLANER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SmartTable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BBF7D0"/>
                </a:solidFill>
                <a:latin typeface="Arial"/>
              </a:rPr>
              <a:t>Rollenbasierter Schulplaner für Schüler, Lehrkräfte und Administration —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BBF7D0"/>
                </a:solidFill>
                <a:latin typeface="Arial"/>
              </a:rPr>
              <a:t>Stundenplan, Vertretungen, Hausaufgaben, Dateien, Chat und eine Lern-KI.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1906524" cy="34747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974336"/>
            <a:ext cx="19065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React 19 +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8940" y="4892040"/>
            <a:ext cx="896112" cy="34747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48940" y="4974336"/>
            <a:ext cx="896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Go + chi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3068" y="4892040"/>
            <a:ext cx="1284732" cy="34747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73068" y="4974336"/>
            <a:ext cx="1284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PostgreSQL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85816" y="4892040"/>
            <a:ext cx="1362456" cy="34747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85816" y="4974336"/>
            <a:ext cx="1362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Docker Compose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4892040"/>
            <a:ext cx="1595628" cy="34747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76288" y="4974336"/>
            <a:ext cx="15956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OpenCode KI-Agent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BF7D0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Worum es in dieser Präsentation geht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5429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3454298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29422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01 · Überblick &amp; Funktionen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3288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Projekt auf einen Blick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Ziele und Rollen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Funktionslandkarte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Ansichten der App (Rendering)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572768"/>
            <a:ext cx="345429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68698" y="1572768"/>
            <a:ext cx="3454298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4730" y="1901952"/>
            <a:ext cx="29422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02 · Technik &amp; Architektur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4730" y="253288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Systemarchitektur &amp; Request-Flow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Tech-Stack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API-Vertrag mit OpenAPI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Auth &amp; Zugriffskontrolle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Datenhaltung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KI-Integration (OpenCode)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72768"/>
            <a:ext cx="3454298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97316" y="1572768"/>
            <a:ext cx="3454298" cy="8229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3348" y="1901952"/>
            <a:ext cx="29422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03 · Betrieb &amp; Qualität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348" y="253288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Deployment-Topologie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CI/CD mit GitHub Actions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Qualitätssicherung &amp; Tests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250" b="0">
                <a:solidFill>
                  <a:srgbClr val="334155"/>
                </a:solidFill>
                <a:latin typeface="Arial"/>
              </a:rPr>
              <a:t>•  Status und nächste Schritte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Das Projekt auf einen 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ROLLEN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Schüler, Lehrkräfte und Administration teilen sich eine Anwendung.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572768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43018" y="1828800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2487168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FUNKTIONEN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798064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Von Stundenplan und Chat bis Lernplan, Vokabeln und KI-Chat.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72768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71636" y="1828800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2487168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2798064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postgres, migrate, backend, frontend, schoolconnect, opencode.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77056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133088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91456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UMGEBUNGEN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Dev (pi-christoph) und Prod (pi-emanuel) — je ein eigener Stack.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3877056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3018" y="4133088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791456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KI-AGENT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3018" y="5102352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OpenCode als Agent-Runtime mit MCP-Zugriff auf die Schuldaten.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3877056"/>
            <a:ext cx="3454298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71636" y="4133088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6A34A"/>
                </a:solidFill>
                <a:latin typeface="Arial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4791456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GETRENNT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5102352"/>
            <a:ext cx="29056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Pro Nutzer eigener Workspace, eigene Credentials, eigene Daten.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ZIELE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Eine Anwendung, drei Sichten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5429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3454298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Schüler:innen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Stundenplan, Kurse und Vertretungen einsehen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Hausaufgaben abgeben (Datei) und Status verfolgen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Materialien der Klasse öffnen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Klassen-, Gruppen- und Direktchat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Lernplan, Vokabeln und KI-Chat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572768"/>
            <a:ext cx="345429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68698" y="1572768"/>
            <a:ext cx="3454298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4730" y="1901952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Lehrkräfte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4730" y="248716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Alles aus Sicht der Schüler:innen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Hausaufgaben anlegen, Abgaben einsehen, benoten (1,0–6,0)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Dateien und Ordner der Klasse verwalten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Vertretungen und Kalendertermine eintragen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Klassenmitgliedschaften pflegen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572768"/>
            <a:ext cx="345429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97316" y="1572768"/>
            <a:ext cx="3454298" cy="8229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53348" y="1901952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Arial"/>
              </a:rPr>
              <a:t>Administration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348" y="2487168"/>
            <a:ext cx="29422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Benutzer, Klassen und Schulen verwalten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Massenimport von bis zu 200 Konten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Rollen und Klassenzuordnungen pflegen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Schulweite Stammdaten als Grundlage für alle Module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Zugriffsschutz über Rolle plus Klassenbezug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3328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Jede Anfrage wird zweistufig geprüft: </a:t>
            </a:r>
            <a:r>
              <a:rPr sz="1200" b="1">
                <a:solidFill>
                  <a:srgbClr val="64748B"/>
                </a:solidFill>
                <a:latin typeface="Arial"/>
              </a:rPr>
              <a:t>Rolle</a:t>
            </a:r>
            <a:r>
              <a:rPr sz="1200" b="0">
                <a:solidFill>
                  <a:srgbClr val="64748B"/>
                </a:solidFill>
                <a:latin typeface="Arial"/>
              </a:rPr>
              <a:t> und </a:t>
            </a:r>
            <a:r>
              <a:rPr sz="1200" b="1">
                <a:solidFill>
                  <a:srgbClr val="64748B"/>
                </a:solidFill>
                <a:latin typeface="Arial"/>
              </a:rPr>
              <a:t>fachlicher Bezug</a:t>
            </a:r>
            <a:r>
              <a:rPr sz="1200" b="0">
                <a:solidFill>
                  <a:srgbClr val="64748B"/>
                </a:solidFill>
                <a:latin typeface="Arial"/>
              </a:rPr>
              <a:t> — ein gültiges Token einer fremden Klasse genügt nicht.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BF7D0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Überblick &amp; Funktionen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429000"/>
            <a:ext cx="10058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BF7D0"/>
                </a:solidFill>
                <a:latin typeface="Arial"/>
              </a:rPr>
              <a:t>Was die Anwendung kann — und wie es in der Oberfläche aussieht.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BF7D0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Funktionslandkarte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773936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77824" y="1810512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39696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Tagesüberblick: ungelesene Chats, heutige Vertretungen, nächste Termine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8255" y="1572768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418255" y="1773936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5999" y="1810512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Stundenplan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139696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Wochenraster je Klasse mit Fach und Raum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572768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96431" y="1773936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4175" y="1810512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Kurse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2139696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Kurszuordnung pro Nutzer, einzeln ausblendbar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4607" y="1572768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974607" y="1773936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12351" y="1810512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Vertretungsplan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351" y="2139696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Entfall, Vertretung, Raumwechsel, Zusatzstunde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72384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7824" y="3310128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Kalender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3931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Ferien, Prüfungen und Termine — ganztägig oder mit Uhrzeit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8255" y="3072384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418255" y="3273552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655999" y="3310128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Dateien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5999" y="363931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Ordnerbaum pro Klasse, Upload, Download, Löschen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6431" y="3072384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196431" y="3273552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34175" y="3310128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Hausaufgaben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4175" y="363931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Aufgabe, Abgabe mit Datei, Status und Benotung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4607" y="3072384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974607" y="3273552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212351" y="3310128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Chat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2351" y="3639312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Klassen-, Gruppen- und Direktchat mit Ungelesen-Zähler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72000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40080" y="4773168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77824" y="4809744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Lernplan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5138928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Fächer aus dem Stundenplan plus LehrplanPLUS-Inhalte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8255" y="4572000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418255" y="4773168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655999" y="4809744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Vokabeln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5999" y="5138928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Sets und Karten mit Leitner-Abfrage (Box 1–5)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6431" y="4572000"/>
            <a:ext cx="2577007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196431" y="4773168"/>
            <a:ext cx="45720" cy="8961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34175" y="4809744"/>
            <a:ext cx="21563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KI-Chat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34175" y="5138928"/>
            <a:ext cx="215638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Lern-KI mit Upload, Outputs zum Download, lokaler Fallback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ANMELDUNG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Login — Zugang mit Rolle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ANSICHT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Login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POST /api/v1/auth/login</a:t>
            </a:r>
            <a:r>
              <a:rPr sz="1150" b="0">
                <a:solidFill>
                  <a:srgbClr val="334155"/>
                </a:solidFill>
                <a:latin typeface="Arial"/>
              </a:rPr>
              <a:t> mit E-Mail und Passwort (bcrypt-Hash).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Access-Token im Speicher, Refresh-Token als HttpOnly-Cookie.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Brute-Force-Schutz: maximal 5 Versuche pro Minute und IP.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Die Rolle (</a:t>
            </a:r>
            <a:r>
              <a:rPr sz="1150" b="0">
                <a:solidFill>
                  <a:srgbClr val="334155"/>
                </a:solidFill>
                <a:latin typeface="Consolas"/>
              </a:rPr>
              <a:t>student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teacher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school_admin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admin</a:t>
            </a:r>
            <a:r>
              <a:rPr sz="1150" b="0">
                <a:solidFill>
                  <a:srgbClr val="334155"/>
                </a:solidFill>
                <a:latin typeface="Arial"/>
              </a:rPr>
              <a:t>) steuert, welche Navigationsbereiche sichtbar sind.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Router-Guards im Frontend: </a:t>
            </a:r>
            <a:r>
              <a:rPr sz="1150" b="0">
                <a:solidFill>
                  <a:srgbClr val="334155"/>
                </a:solidFill>
                <a:latin typeface="Consolas"/>
              </a:rPr>
              <a:t>ProtectedRoute</a:t>
            </a:r>
            <a:r>
              <a:rPr sz="1150" b="0">
                <a:solidFill>
                  <a:srgbClr val="334155"/>
                </a:solidFill>
                <a:latin typeface="Arial"/>
              </a:rPr>
              <a:t> und </a:t>
            </a:r>
            <a:r>
              <a:rPr sz="1150" b="0">
                <a:solidFill>
                  <a:srgbClr val="334155"/>
                </a:solidFill>
                <a:latin typeface="Consolas"/>
              </a:rPr>
              <a:t>RoleRoute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Ungelesene Nachrichten mit Direkteinstieg in die Unterhaltung.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Heutige Vertretungen, farblich nach Entfall, Vertretung und Raumwechsel unterschieden.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Nächste Termine aus dem Kalender, sortiert nach Startzeit.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Datenquelle umschaltbar: eigene Datenbank oder das Schülerportal über SchoolConnect.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Daten kommen über React Query, ungelesene Zähler aus </a:t>
            </a:r>
            <a:r>
              <a:rPr sz="1150" b="0">
                <a:solidFill>
                  <a:srgbClr val="334155"/>
                </a:solidFill>
                <a:latin typeface="Consolas"/>
              </a:rPr>
              <a:t>GET /api/v1/channels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Stundenplan &amp; Kurse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Wochenraster mit Fach und Raum je Unterrichtsstunde.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Fächer stammen aus der Fachtabelle, die Zuordnung läuft über die Klasse.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Jede Klasse hat ihren eigenen Plan — Schüler:innen sehen ihren, Lehrkräfte den der Klasse.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Kurse lassen sich pro Nutzer ausblenden (</a:t>
            </a:r>
            <a:r>
              <a:rPr sz="1150" b="0">
                <a:solidFill>
                  <a:srgbClr val="334155"/>
                </a:solidFill>
                <a:latin typeface="Consolas"/>
              </a:rPr>
              <a:t>useCourseVisibility</a:t>
            </a:r>
            <a:r>
              <a:rPr sz="1150" b="0">
                <a:solidFill>
                  <a:srgbClr val="334155"/>
                </a:solidFill>
                <a:latin typeface="Arial"/>
              </a:rPr>
              <a:t>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Optional stammt der Plan aus dem Schülerportal (Schreibschutz, Hinweis „Quelle: SchoolConnect“).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Vertretungsplan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substit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Vier Arten von Änderungen: Vertretung, Entfall, Raumwechsel, Zusatzstunde.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Lehrkräfte tragen Änderungen direkt im Frontend ein, inklusive Fach, Raum und Notiz.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Tagesfilter über das Datumsfeld; Einträge erscheinen sofort im Tagesplan.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Per API gepflegt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/api/v1/substitutions</a:t>
            </a:r>
            <a:r>
              <a:rPr sz="1150" b="0">
                <a:solidFill>
                  <a:srgbClr val="334155"/>
                </a:solidFill>
                <a:latin typeface="Arial"/>
              </a:rPr>
              <a:t> (POST, PATCH, DELETE).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Alternative Quelle: Schülerportal über SchoolConnect — dort schreibgeschützt.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Hausaufgaben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Aufgabe mit Titel, Beschreibung, Fach und Fälligkeitsdatum.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Schüler:innen laden eine Abgabedatei hoch und können sie wieder zurückziehen.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Lehrkräfte sehen alle Abgaben und benoten mit 1,0 bis 6,0.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Überfällige Aufgaben werden automatisch rot markiert.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Status je Abgabe: offen, abgegeben, benotet — abgeleitet aus </a:t>
            </a:r>
            <a:r>
              <a:rPr sz="1150" b="0">
                <a:solidFill>
                  <a:srgbClr val="334155"/>
                </a:solidFill>
                <a:latin typeface="Consolas"/>
              </a:rPr>
              <a:t>homework_submissions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Dateien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Ordnerbaum pro Klasse, optional mit Unterordnern.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Upload per Multipart, Download ownership-geprüft, Löschen für Verwaltungsrollen.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Datei-Metadaten in Postgres, die Binärdaten im Docker-Volume </a:t>
            </a:r>
            <a:r>
              <a:rPr sz="1150" b="0">
                <a:solidFill>
                  <a:srgbClr val="334155"/>
                </a:solidFill>
                <a:latin typeface="Consolas"/>
              </a:rPr>
              <a:t>uploads_data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Ordner und Uploads dürfen nur Lehrkräfte und Admins anlegen.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Alle Zugriffe laufen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/api/v1/classes/{id}/files</a:t>
            </a:r>
            <a:r>
              <a:rPr sz="1150" b="0">
                <a:solidFill>
                  <a:srgbClr val="334155"/>
                </a:solidFill>
                <a:latin typeface="Arial"/>
              </a:rPr>
              <a:t> und </a:t>
            </a:r>
            <a:r>
              <a:rPr sz="1150" b="0">
                <a:solidFill>
                  <a:srgbClr val="334155"/>
                </a:solidFill>
                <a:latin typeface="Consolas"/>
              </a:rPr>
              <a:t>/folders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Drei Kanaltypen: Klassenchat, Gruppe und Direktnachricht.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Ungelesen-Zähler pro Kanal — auch als Badge in der Seitenleiste.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WebSocket (</a:t>
            </a:r>
            <a:r>
              <a:rPr sz="1150" b="0">
                <a:solidFill>
                  <a:srgbClr val="334155"/>
                </a:solidFill>
                <a:latin typeface="Consolas"/>
              </a:rPr>
              <a:t>/ws?token=…</a:t>
            </a:r>
            <a:r>
              <a:rPr sz="1150" b="0">
                <a:solidFill>
                  <a:srgbClr val="334155"/>
                </a:solidFill>
                <a:latin typeface="Arial"/>
              </a:rPr>
              <a:t>) hält den React-Query-Cache live aktuell.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Zugriff nur für Mitglieder des jeweiligen Kanals (Kanalmitgliedschaft).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Beim Öffnen eines Kanals markiert das Backend die Nachrichten als gelesen.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LERN-BEREICH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Lernplan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study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Die eigenen Fächer werden aus dem Stundenplan der Klasse abgeleitet.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Dazu kommen offizielle LehrplanPLUS-Inhalte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lernplan-bayern</a:t>
            </a:r>
            <a:r>
              <a:rPr sz="1150" b="0">
                <a:solidFill>
                  <a:srgbClr val="334155"/>
                </a:solidFill>
                <a:latin typeface="Arial"/>
              </a:rPr>
              <a:t> (ohne Login).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Suche nach Schulart, Jahrgangsstufe und Kapitel.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Ausgeblendete Kurse werden auch hier berücksichtigt.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Basis für die Lern-KI: der Lernplan liefert den fachlichen Kontext.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LERN-BEREICH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Vokabeln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Vokabelsets und Karten pro Nutzer (</a:t>
            </a:r>
            <a:r>
              <a:rPr sz="1150" b="0">
                <a:solidFill>
                  <a:srgbClr val="334155"/>
                </a:solidFill>
                <a:latin typeface="Consolas"/>
              </a:rPr>
              <a:t>vocab_sets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vocab_cards</a:t>
            </a:r>
            <a:r>
              <a:rPr sz="1150" b="0">
                <a:solidFill>
                  <a:srgbClr val="334155"/>
                </a:solidFill>
                <a:latin typeface="Arial"/>
              </a:rPr>
              <a:t>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Leitner-Abfrage: „gewusst“ hebt die Karte eine Box, sonst zurück auf Box 1.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Fällige Karten steuert das Feld </a:t>
            </a:r>
            <a:r>
              <a:rPr sz="1150" b="0">
                <a:solidFill>
                  <a:srgbClr val="334155"/>
                </a:solidFill>
                <a:latin typeface="Consolas"/>
              </a:rPr>
              <a:t>due_at</a:t>
            </a:r>
            <a:r>
              <a:rPr sz="1150" b="0">
                <a:solidFill>
                  <a:srgbClr val="334155"/>
                </a:solidFill>
                <a:latin typeface="Arial"/>
              </a:rPr>
              <a:t> — oben steht, wie viele heute fällig sind.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Sets entstehen auch direkt aus einem Upload im KI-Chat.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Grenzen: max. 100 Karten pro Aufruf, 500 pro Set, 5 Sets pro Tag.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LERN-BEREICH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KI-Chat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ui_ki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4204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66176" y="1591056"/>
            <a:ext cx="32854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FUNKTION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6176" y="1956816"/>
            <a:ext cx="32854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Lern-KI auf Basis von OpenCode, Modell über einen OpenRouter-Schlüssel.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Datei-Upload (PDF, DOCX, XLSX, PPTX, Bilder, CSV …) in den eigenen Workspace.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Der Agent schreibt Ergebnisdateien nach </a:t>
            </a:r>
            <a:r>
              <a:rPr sz="1150" b="0">
                <a:solidFill>
                  <a:srgbClr val="334155"/>
                </a:solidFill>
                <a:latin typeface="Consolas"/>
              </a:rPr>
              <a:t>outputs/</a:t>
            </a:r>
            <a:r>
              <a:rPr sz="1150" b="0">
                <a:solidFill>
                  <a:srgbClr val="334155"/>
                </a:solidFill>
                <a:latin typeface="Arial"/>
              </a:rPr>
              <a:t> — sie erscheinen als Download-Chips.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Sessions sind pro Benutzer isoliert und werden in Postgres gespeichert.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Ist OpenCode offline, antwortet die Seite lokal (fällige Vokabeln und nächste Hausaufgaben).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057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BF7D0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Technik &amp; Architektur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3429000"/>
            <a:ext cx="10058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BF7D0"/>
                </a:solidFill>
                <a:latin typeface="Arial"/>
              </a:rPr>
              <a:t>Wie Frontend, Backend, Datenbank und KI zusammenspielen.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BF7D0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Systemarchitektur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69480" cy="413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93608" y="1591056"/>
            <a:ext cx="32580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AUFBAU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1956816"/>
            <a:ext cx="3258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Das Frontend ist ein statisches Artefakt (</a:t>
            </a:r>
            <a:r>
              <a:rPr sz="1150" b="0">
                <a:solidFill>
                  <a:srgbClr val="334155"/>
                </a:solidFill>
                <a:latin typeface="Consolas"/>
              </a:rPr>
              <a:t>dist/</a:t>
            </a:r>
            <a:r>
              <a:rPr sz="1150" b="0">
                <a:solidFill>
                  <a:srgbClr val="334155"/>
                </a:solidFill>
                <a:latin typeface="Arial"/>
              </a:rPr>
              <a:t>) und wird von nginx ausgeliefert.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Alle API-Aufrufe laufen relativ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/api/</a:t>
            </a:r>
            <a:r>
              <a:rPr sz="1150" b="0">
                <a:solidFill>
                  <a:srgbClr val="334155"/>
                </a:solidFill>
                <a:latin typeface="Arial"/>
              </a:rPr>
              <a:t> — kein CORS, keine Backend-URL im Build.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Das Go-Backend ist die einzige öffentliche Logikschicht; Postgres ist System-of-Record.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SchoolConnect und OpenCode laufen als Sidecar nur im internen Netz.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Damit sieht der Browser nie Zugangsdaten oder fremde Mandantendaten.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BETRIEB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Deployment-Topologie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ag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69480" cy="3519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93608" y="1591056"/>
            <a:ext cx="32580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BETRIEB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1956816"/>
            <a:ext cx="3258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Öffentlicher Zugang über den Reverse-Tunnel der Code-Club-VM (codeclub.check24.fun).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Der Raspberry Pi hält den Tunnel per autossh als systemd-Service offen.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Compose-Stack pro Host — eigene Container, Netze, Volumes und Ports.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Nur das Frontend ist von außen erreichbar, Backend und Datenbank nicht.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Deploy per Ansible: Quellen syncen, Images bauen, Migrationen, Healthcheck.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API-Vertrag &amp; Codegenerierung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ag_code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69480" cy="2907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93608" y="1591056"/>
            <a:ext cx="32580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1956816"/>
            <a:ext cx="3258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Die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openapi.yaml</a:t>
            </a:r>
            <a:r>
              <a:rPr sz="1150" b="0">
                <a:solidFill>
                  <a:srgbClr val="334155"/>
                </a:solidFill>
                <a:latin typeface="Arial"/>
              </a:rPr>
              <a:t> ist die einzige Quelle der Wahrheit für alle Endpunkte.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</a:t>
            </a:r>
            <a:r>
              <a:rPr sz="1150" b="0">
                <a:solidFill>
                  <a:srgbClr val="334155"/>
                </a:solidFill>
                <a:latin typeface="Consolas"/>
              </a:rPr>
              <a:t>oapi-codegen</a:t>
            </a:r>
            <a:r>
              <a:rPr sz="1150" b="0">
                <a:solidFill>
                  <a:srgbClr val="334155"/>
                </a:solidFill>
                <a:latin typeface="Arial"/>
              </a:rPr>
              <a:t> erzeugt Go-Handler-Interfaces und Typen.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openapi-typescript</a:t>
            </a:r>
            <a:r>
              <a:rPr sz="1150" b="0">
                <a:solidFill>
                  <a:srgbClr val="334155"/>
                </a:solidFill>
                <a:latin typeface="Arial"/>
              </a:rPr>
              <a:t> erzeugt die passenden TypeScript-Typen im Frontend.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Kein manuelles Nachpflegen von Typen zwischen Go und TypeScript.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Generierter Code wird nicht bearbeitet, sondern neu erzeugt (</a:t>
            </a:r>
            <a:r>
              <a:rPr sz="1150" b="0">
                <a:solidFill>
                  <a:srgbClr val="334155"/>
                </a:solidFill>
                <a:latin typeface="Consolas"/>
              </a:rPr>
              <a:t>make generate</a:t>
            </a:r>
            <a:r>
              <a:rPr sz="1150" b="0">
                <a:solidFill>
                  <a:srgbClr val="334155"/>
                </a:solidFill>
                <a:latin typeface="Arial"/>
              </a:rPr>
              <a:t>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KI-Integration: OpenCode, mandantenfähig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ag_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69480" cy="3749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93608" y="1591056"/>
            <a:ext cx="32580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1956816"/>
            <a:ext cx="3258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gemeinsamer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opencode serve</a:t>
            </a:r>
            <a:r>
              <a:rPr sz="1150" b="0">
                <a:solidFill>
                  <a:srgbClr val="334155"/>
                </a:solidFill>
                <a:latin typeface="Arial"/>
              </a:rPr>
              <a:t> auf Port 8082 bedient alle Nutzer.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Pro Nutzer ein eigener Workspace </a:t>
            </a:r>
            <a:r>
              <a:rPr sz="1150" b="0">
                <a:solidFill>
                  <a:srgbClr val="334155"/>
                </a:solidFill>
                <a:latin typeface="Consolas"/>
              </a:rPr>
              <a:t>/workspaces/&lt;user_id&gt;</a:t>
            </a:r>
            <a:r>
              <a:rPr sz="1150" b="0">
                <a:solidFill>
                  <a:srgbClr val="334155"/>
                </a:solidFill>
                <a:latin typeface="Arial"/>
              </a:rPr>
              <a:t>, abgeleitet aus der JWT-user_id.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Sessions und Verlauf stehen in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opencode_sessions</a:t>
            </a:r>
            <a:r>
              <a:rPr sz="1150" b="0">
                <a:solidFill>
                  <a:srgbClr val="334155"/>
                </a:solidFill>
                <a:latin typeface="Arial"/>
              </a:rPr>
              <a:t> /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opencode_messages</a:t>
            </a:r>
            <a:r>
              <a:rPr sz="1150" b="0">
                <a:solidFill>
                  <a:srgbClr val="334155"/>
                </a:solidFill>
                <a:latin typeface="Arial"/>
              </a:rPr>
              <a:t> mit Ownership-Check.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Schuldaten erreicht der Agent nur über den MCP-Server des Backends.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Antworten kommen vollständig zurück und werden zusätzlich per WebSocket gepusht.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QUALITÄT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CI/CD mit GitHub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iag_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7269480" cy="32903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93608" y="1591056"/>
            <a:ext cx="325800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BETRIEB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93608" y="1956816"/>
            <a:ext cx="32580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Workflow: der CI-Job </a:t>
            </a:r>
            <a:r>
              <a:rPr sz="1150" b="0">
                <a:solidFill>
                  <a:srgbClr val="334155"/>
                </a:solidFill>
                <a:latin typeface="Consolas"/>
              </a:rPr>
              <a:t>ci</a:t>
            </a:r>
            <a:r>
              <a:rPr sz="1150" b="0">
                <a:solidFill>
                  <a:srgbClr val="334155"/>
                </a:solidFill>
                <a:latin typeface="Arial"/>
              </a:rPr>
              <a:t> und die CD-Jobs </a:t>
            </a:r>
            <a:r>
              <a:rPr sz="1150" b="0">
                <a:solidFill>
                  <a:srgbClr val="334155"/>
                </a:solidFill>
                <a:latin typeface="Consolas"/>
              </a:rPr>
              <a:t>deploy-*</a:t>
            </a:r>
            <a:r>
              <a:rPr sz="1150" b="0">
                <a:solidFill>
                  <a:srgbClr val="334155"/>
                </a:solidFill>
                <a:latin typeface="Arial"/>
              </a:rPr>
              <a:t> hängen über </a:t>
            </a:r>
            <a:r>
              <a:rPr sz="1150" b="0">
                <a:solidFill>
                  <a:srgbClr val="334155"/>
                </a:solidFill>
                <a:latin typeface="Consolas"/>
              </a:rPr>
              <a:t>needs: ci</a:t>
            </a:r>
            <a:r>
              <a:rPr sz="1150" b="0">
                <a:solidFill>
                  <a:srgbClr val="334155"/>
                </a:solidFill>
                <a:latin typeface="Arial"/>
              </a:rPr>
              <a:t> zusammen.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Backend: </a:t>
            </a:r>
            <a:r>
              <a:rPr sz="1150" b="0">
                <a:solidFill>
                  <a:srgbClr val="334155"/>
                </a:solidFill>
                <a:latin typeface="Consolas"/>
              </a:rPr>
              <a:t>go vet</a:t>
            </a:r>
            <a:r>
              <a:rPr sz="1150" b="0">
                <a:solidFill>
                  <a:srgbClr val="334155"/>
                </a:solidFill>
                <a:latin typeface="Arial"/>
              </a:rPr>
              <a:t> und </a:t>
            </a:r>
            <a:r>
              <a:rPr sz="1150" b="0">
                <a:solidFill>
                  <a:srgbClr val="334155"/>
                </a:solidFill>
                <a:latin typeface="Consolas"/>
              </a:rPr>
              <a:t>go test</a:t>
            </a:r>
            <a:r>
              <a:rPr sz="1150" b="0">
                <a:solidFill>
                  <a:srgbClr val="334155"/>
                </a:solidFill>
                <a:latin typeface="Arial"/>
              </a:rPr>
              <a:t> gegen einen echten Postgres-Service mit Migrationen.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Frontend: </a:t>
            </a:r>
            <a:r>
              <a:rPr sz="1150" b="0">
                <a:solidFill>
                  <a:srgbClr val="334155"/>
                </a:solidFill>
                <a:latin typeface="Consolas"/>
              </a:rPr>
              <a:t>npm ci</a:t>
            </a:r>
            <a:r>
              <a:rPr sz="1150" b="0">
                <a:solidFill>
                  <a:srgbClr val="334155"/>
                </a:solidFill>
                <a:latin typeface="Arial"/>
              </a:rPr>
              <a:t> und </a:t>
            </a:r>
            <a:r>
              <a:rPr sz="1150" b="0">
                <a:solidFill>
                  <a:srgbClr val="334155"/>
                </a:solidFill>
                <a:latin typeface="Consolas"/>
              </a:rPr>
              <a:t>npm run build</a:t>
            </a:r>
            <a:r>
              <a:rPr sz="1150" b="0">
                <a:solidFill>
                  <a:srgbClr val="334155"/>
                </a:solidFill>
                <a:latin typeface="Arial"/>
              </a:rPr>
              <a:t> inklusive TypeScript-Check (</a:t>
            </a:r>
            <a:r>
              <a:rPr sz="1150" b="0">
                <a:solidFill>
                  <a:srgbClr val="334155"/>
                </a:solidFill>
                <a:latin typeface="Consolas"/>
              </a:rPr>
              <a:t>tsc -b</a:t>
            </a:r>
            <a:r>
              <a:rPr sz="1150" b="0">
                <a:solidFill>
                  <a:srgbClr val="334155"/>
                </a:solidFill>
                <a:latin typeface="Arial"/>
              </a:rPr>
              <a:t>).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</a:t>
            </a:r>
            <a:r>
              <a:rPr sz="1150" b="0">
                <a:solidFill>
                  <a:srgbClr val="334155"/>
                </a:solidFill>
                <a:latin typeface="Consolas"/>
              </a:rPr>
              <a:t>develop</a:t>
            </a:r>
            <a:r>
              <a:rPr sz="1150" b="0">
                <a:solidFill>
                  <a:srgbClr val="334155"/>
                </a:solidFill>
                <a:latin typeface="Arial"/>
              </a:rPr>
              <a:t> deployt auf Dev, </a:t>
            </a:r>
            <a:r>
              <a:rPr sz="1150" b="0">
                <a:solidFill>
                  <a:srgbClr val="334155"/>
                </a:solidFill>
                <a:latin typeface="Consolas"/>
              </a:rPr>
              <a:t>main</a:t>
            </a:r>
            <a:r>
              <a:rPr sz="1150" b="0">
                <a:solidFill>
                  <a:srgbClr val="334155"/>
                </a:solidFill>
                <a:latin typeface="Arial"/>
              </a:rPr>
              <a:t> auf Prod; Pull Requests lösen nur Checks aus.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fehlgeschlagener Check stoppt das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Tech-Stack im 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72768"/>
          <a:ext cx="10911534" cy="39822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055229"/>
                <a:gridCol w="7856305"/>
              </a:tblGrid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Schicht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Technologie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React 19 + TypeScript + Vite + Tailwind CSS 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Routing / State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React Router v7 · Zustand · React Query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Go + chi (HTTP-Router)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API-Vertrag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OpenAPI 3.1 mit oapi-codegen und openapi-typescript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Datenbank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PostgreSQL 16, typsichere Queries über sqlc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Migrationen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golang-migrate (eigener One-Shot-Container)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Auth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JWT im Access-Token · Refresh-Token als HttpOnly-Cookie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Echtzeit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WebSocket für Chat und KI-Ereignisse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Datei-Upload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Go stdlib </a:t>
                      </a:r>
                      <a:r>
                        <a:rPr sz="1100" b="0">
                          <a:solidFill>
                            <a:srgbClr val="334155"/>
                          </a:solidFill>
                          <a:latin typeface="Consolas"/>
                        </a:rPr>
                        <a:t>multipart</a:t>
                      </a: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, Metadaten in Postgres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Externe Daten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SchoolConnect-Sidecar (Schülerportal, mebis, ByCS, LehrplanPLUS)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KI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OpenCode (</a:t>
                      </a:r>
                      <a:r>
                        <a:rPr sz="1100" b="0">
                          <a:solidFill>
                            <a:srgbClr val="334155"/>
                          </a:solidFill>
                          <a:latin typeface="Consolas"/>
                        </a:rPr>
                        <a:t>opencode serve</a:t>
                      </a:r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) mit MCP-Anbindung an das Backend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4155"/>
                          </a:solidFill>
                          <a:latin typeface="Arial"/>
                        </a:rPr>
                        <a:t>Betrieb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Arial"/>
                        </a:rPr>
                        <a:t>Docker Compose pro Host, Ansible, GitHub Actions, autossh-Tunnel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56148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Kein Full-Stack-Framework: Frontend und Backend sind getrennte Artefakte — das Frontend wird ausgeliefert, das Backend läuft als eigener Prozess.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SICHERHEIT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Auth &amp; Zugriffskontrolle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45720" cy="1225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E-Mail und Passwort werden gegen den bcrypt-Hash geprüft; das Backend stellt ein JWT mit </a:t>
            </a:r>
            <a:r>
              <a:rPr sz="1150" b="0">
                <a:solidFill>
                  <a:srgbClr val="334155"/>
                </a:solidFill>
                <a:latin typeface="Consolas"/>
              </a:rPr>
              <a:t>user_id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email</a:t>
            </a:r>
            <a:r>
              <a:rPr sz="1150" b="0">
                <a:solidFill>
                  <a:srgbClr val="334155"/>
                </a:solidFill>
                <a:latin typeface="Arial"/>
              </a:rPr>
              <a:t> und </a:t>
            </a:r>
            <a:r>
              <a:rPr sz="1150" b="0">
                <a:solidFill>
                  <a:srgbClr val="334155"/>
                </a:solidFill>
                <a:latin typeface="Consolas"/>
              </a:rPr>
              <a:t>role</a:t>
            </a:r>
            <a:r>
              <a:rPr sz="1150" b="0">
                <a:solidFill>
                  <a:srgbClr val="334155"/>
                </a:solidFill>
                <a:latin typeface="Arial"/>
              </a:rPr>
              <a:t> aus.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72768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233007" y="1572768"/>
            <a:ext cx="45720" cy="1225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755648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Token-Handling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075688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Access-Token im Speicher des Frontends, Refresh-Token als HttpOnly-Cookie mit </a:t>
            </a:r>
            <a:r>
              <a:rPr sz="1150" b="0">
                <a:solidFill>
                  <a:srgbClr val="334155"/>
                </a:solidFill>
                <a:latin typeface="Consolas"/>
              </a:rPr>
              <a:t>POST /api/v1/auth/refresh</a:t>
            </a:r>
            <a:r>
              <a:rPr sz="1150" b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07791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2907791"/>
            <a:ext cx="45720" cy="1225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09067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1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onsolas"/>
              </a:rPr>
              <a:t>internal/middleware/auth.go</a:t>
            </a:r>
            <a:r>
              <a:rPr sz="1150" b="0">
                <a:solidFill>
                  <a:srgbClr val="334155"/>
                </a:solidFill>
                <a:latin typeface="Arial"/>
              </a:rPr>
              <a:t> prüft das Bearer-Token auf jeder geschützten Route und legt die Claims in den Request-Context.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907791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33007" y="2907791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07327" y="3090672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Zweistufige Autorisierung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410711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Rolle </a:t>
            </a:r>
            <a:r>
              <a:rPr sz="1150" b="1">
                <a:solidFill>
                  <a:srgbClr val="334155"/>
                </a:solidFill>
                <a:latin typeface="Arial"/>
              </a:rPr>
              <a:t>und</a:t>
            </a:r>
            <a:r>
              <a:rPr sz="1150" b="0">
                <a:solidFill>
                  <a:srgbClr val="334155"/>
                </a:solidFill>
                <a:latin typeface="Arial"/>
              </a:rPr>
              <a:t> fachlicher Bezug: Die Zugriffsprüfung (</a:t>
            </a:r>
            <a:r>
              <a:rPr sz="1150" b="0">
                <a:solidFill>
                  <a:srgbClr val="334155"/>
                </a:solidFill>
                <a:latin typeface="Consolas"/>
              </a:rPr>
              <a:t>internal/api/handler/access.go</a:t>
            </a:r>
            <a:r>
              <a:rPr sz="1150" b="0">
                <a:solidFill>
                  <a:srgbClr val="334155"/>
                </a:solidFill>
                <a:latin typeface="Arial"/>
              </a:rPr>
              <a:t>) prüft Klassen- bzw. Kanalmitgliedschaft — ein fremdes Token genügt nicht.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42816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4242816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4425696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Öffentliche Routen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45736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Consolas"/>
              </a:rPr>
              <a:t>/health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/api/v1/health</a:t>
            </a:r>
            <a:r>
              <a:rPr sz="1150" b="0">
                <a:solidFill>
                  <a:srgbClr val="334155"/>
                </a:solidFill>
                <a:latin typeface="Arial"/>
              </a:rPr>
              <a:t> und die Auth-Endpunkte </a:t>
            </a:r>
            <a:r>
              <a:rPr sz="1150" b="0">
                <a:solidFill>
                  <a:srgbClr val="334155"/>
                </a:solidFill>
                <a:latin typeface="Consolas"/>
              </a:rPr>
              <a:t>login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refresh</a:t>
            </a:r>
            <a:r>
              <a:rPr sz="1150" b="0">
                <a:solidFill>
                  <a:srgbClr val="334155"/>
                </a:solidFill>
                <a:latin typeface="Arial"/>
              </a:rPr>
              <a:t>, </a:t>
            </a:r>
            <a:r>
              <a:rPr sz="1150" b="0">
                <a:solidFill>
                  <a:srgbClr val="334155"/>
                </a:solidFill>
                <a:latin typeface="Consolas"/>
              </a:rPr>
              <a:t>logout</a:t>
            </a:r>
            <a:r>
              <a:rPr sz="1150" b="0">
                <a:solidFill>
                  <a:srgbClr val="334155"/>
                </a:solidFill>
                <a:latin typeface="Arial"/>
              </a:rPr>
              <a:t> — alles andere braucht ein Token.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4242816"/>
            <a:ext cx="5318607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233007" y="4242816"/>
            <a:ext cx="45720" cy="1225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07327" y="4425696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</a:rPr>
              <a:t>Rate-Limiting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7327" y="4745736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Der Login-Endpunkt erlaubt 5 Versuche pro Minute (</a:t>
            </a:r>
            <a:r>
              <a:rPr sz="1150" b="0">
                <a:solidFill>
                  <a:srgbClr val="334155"/>
                </a:solidFill>
                <a:latin typeface="Consolas"/>
              </a:rPr>
              <a:t>golang.org/x/time/rate</a:t>
            </a:r>
            <a:r>
              <a:rPr sz="1150" b="0">
                <a:solidFill>
                  <a:srgbClr val="334155"/>
                </a:solidFill>
                <a:latin typeface="Arial"/>
              </a:rPr>
              <a:t>) gegen Brute-Force.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33872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Arial"/>
              </a:rPr>
              <a:t>Im Frontend schützen </a:t>
            </a:r>
            <a:r>
              <a:rPr sz="1150" b="0">
                <a:solidFill>
                  <a:srgbClr val="64748B"/>
                </a:solidFill>
                <a:latin typeface="Consolas"/>
              </a:rPr>
              <a:t>ProtectedRoute</a:t>
            </a:r>
            <a:r>
              <a:rPr sz="1150" b="0">
                <a:solidFill>
                  <a:srgbClr val="64748B"/>
                </a:solidFill>
                <a:latin typeface="Arial"/>
              </a:rPr>
              <a:t> (angemeldet?) und </a:t>
            </a:r>
            <a:r>
              <a:rPr sz="1150" b="0">
                <a:solidFill>
                  <a:srgbClr val="64748B"/>
                </a:solidFill>
                <a:latin typeface="Consolas"/>
              </a:rPr>
              <a:t>RoleRoute</a:t>
            </a:r>
            <a:r>
              <a:rPr sz="1150" b="0">
                <a:solidFill>
                  <a:srgbClr val="64748B"/>
                </a:solidFill>
                <a:latin typeface="Arial"/>
              </a:rPr>
              <a:t> (richtige Rolle?) die Seiten vor unberechtigtem Zugriff.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Datenhaltung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673998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53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PostgreSQL ist System-of-Record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1253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Benutzer, Rollen, Klassen und Zuordnungen</a:t>
            </a:r>
          </a:p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Stundenpläne, Vertretungen, Termine und Hausaufgaben</a:t>
            </a:r>
          </a:p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Chat-Kanäle, Mitgliedschaften und Nachrichten</a:t>
            </a:r>
          </a:p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Datei-Metadaten und Abgaben (Bewertung, Status)</a:t>
            </a:r>
          </a:p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Vokabelsets und -karten inkl. Leitner-Box und Fälligkeit</a:t>
            </a:r>
          </a:p>
          <a:p>
            <a:pPr algn="l" marL="219456" indent="-219456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OpenCode-Sessions und -Nachrichten mit </a:t>
            </a:r>
            <a:r>
              <a:rPr sz="1150" b="0">
                <a:solidFill>
                  <a:srgbClr val="334155"/>
                </a:solidFill>
                <a:latin typeface="Consolas"/>
              </a:rPr>
              <a:t>owner_id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8398" y="1572768"/>
            <a:ext cx="4963216" cy="187451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62718" y="1792224"/>
            <a:ext cx="4414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Volumes (pro Umgebung getrennt)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2718" y="2212848"/>
            <a:ext cx="4414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postgres_data</a:t>
            </a:r>
            <a:r>
              <a:rPr sz="1100" b="0">
                <a:solidFill>
                  <a:srgbClr val="334155"/>
                </a:solidFill>
                <a:latin typeface="Arial"/>
              </a:rPr>
              <a:t> — Datenbank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uploads_data</a:t>
            </a:r>
            <a:r>
              <a:rPr sz="1100" b="0">
                <a:solidFill>
                  <a:srgbClr val="334155"/>
                </a:solidFill>
                <a:latin typeface="Arial"/>
              </a:rPr>
              <a:t> — Datei-Uploads (</a:t>
            </a:r>
            <a:r>
              <a:rPr sz="1100" b="0">
                <a:solidFill>
                  <a:srgbClr val="334155"/>
                </a:solidFill>
                <a:latin typeface="Consolas"/>
              </a:rPr>
              <a:t>UPLOAD_DIR=/app/uploads</a:t>
            </a:r>
            <a:r>
              <a:rPr sz="1100" b="0">
                <a:solidFill>
                  <a:srgbClr val="334155"/>
                </a:solidFill>
                <a:latin typeface="Arial"/>
              </a:rPr>
              <a:t>)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sc_creds</a:t>
            </a:r>
            <a:r>
              <a:rPr sz="1100" b="0">
                <a:solidFill>
                  <a:srgbClr val="334155"/>
                </a:solidFill>
                <a:latin typeface="Arial"/>
              </a:rPr>
              <a:t> — SchoolConnect-Sessions pro Tenant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workspaces</a:t>
            </a:r>
            <a:r>
              <a:rPr sz="1100" b="0">
                <a:solidFill>
                  <a:srgbClr val="334155"/>
                </a:solidFill>
                <a:latin typeface="Arial"/>
              </a:rPr>
              <a:t> — OpenCode-Workspaces </a:t>
            </a:r>
            <a:r>
              <a:rPr sz="1100" b="0">
                <a:solidFill>
                  <a:srgbClr val="334155"/>
                </a:solidFill>
                <a:latin typeface="Consolas"/>
              </a:rPr>
              <a:t>/workspaces/&lt;user_id&gt;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8398" y="3630168"/>
            <a:ext cx="4963216" cy="1874519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62718" y="3849624"/>
            <a:ext cx="4414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Schema &amp; Zugriff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2718" y="4270248"/>
            <a:ext cx="44145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Acht Migrationen, </a:t>
            </a:r>
            <a:r>
              <a:rPr sz="1100" b="0">
                <a:solidFill>
                  <a:srgbClr val="334155"/>
                </a:solidFill>
                <a:latin typeface="Consolas"/>
              </a:rPr>
              <a:t>001_initial_schema</a:t>
            </a:r>
            <a:r>
              <a:rPr sz="1100" b="0">
                <a:solidFill>
                  <a:srgbClr val="334155"/>
                </a:solidFill>
                <a:latin typeface="Arial"/>
              </a:rPr>
              <a:t> bis </a:t>
            </a:r>
            <a:r>
              <a:rPr sz="1100" b="0">
                <a:solidFill>
                  <a:srgbClr val="334155"/>
                </a:solidFill>
                <a:latin typeface="Consolas"/>
              </a:rPr>
              <a:t>008_user_data_provider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Migrationen als One-Shot-Container (</a:t>
            </a:r>
            <a:r>
              <a:rPr sz="1100" b="0">
                <a:solidFill>
                  <a:srgbClr val="334155"/>
                </a:solidFill>
                <a:latin typeface="Consolas"/>
              </a:rPr>
              <a:t>migrate/migrate</a:t>
            </a:r>
            <a:r>
              <a:rPr sz="1100" b="0">
                <a:solidFill>
                  <a:srgbClr val="334155"/>
                </a:solidFill>
                <a:latin typeface="Arial"/>
              </a:rPr>
              <a:t>)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SQL-Queries in </a:t>
            </a:r>
            <a:r>
              <a:rPr sz="1100" b="0">
                <a:solidFill>
                  <a:srgbClr val="334155"/>
                </a:solidFill>
                <a:latin typeface="Consolas"/>
              </a:rPr>
              <a:t>internal/db/query/*.sql</a:t>
            </a:r>
            <a:r>
              <a:rPr sz="1100" b="0">
                <a:solidFill>
                  <a:srgbClr val="334155"/>
                </a:solidFill>
                <a:latin typeface="Arial"/>
              </a:rPr>
              <a:t>, typsicher über sqlc</a:t>
            </a:r>
          </a:p>
          <a:p>
            <a:pPr algn="l" marL="219456" indent="-219456">
              <a:lnSpc>
                <a:spcPct val="115000"/>
              </a:lnSpc>
              <a:spcAft>
                <a:spcPts val="7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Kein </a:t>
            </a:r>
            <a:r>
              <a:rPr sz="1100" b="0">
                <a:solidFill>
                  <a:srgbClr val="334155"/>
                </a:solidFill>
                <a:latin typeface="Consolas"/>
              </a:rPr>
              <a:t>ansible-vault</a:t>
            </a:r>
            <a:r>
              <a:rPr sz="1100" b="0">
                <a:solidFill>
                  <a:srgbClr val="334155"/>
                </a:solidFill>
                <a:latin typeface="Arial"/>
              </a:rPr>
              <a:t>: Secrets liegen pro Host in den Host-Vars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TECHNIK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KI-Sandbox und Leitplanken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346649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346649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6112" y="1883664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Workspace-Isolation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Jeder Nutzer bekommt </a:t>
            </a:r>
            <a:r>
              <a:rPr sz="1100" b="0">
                <a:solidFill>
                  <a:srgbClr val="334155"/>
                </a:solidFill>
                <a:latin typeface="Consolas"/>
              </a:rPr>
              <a:t>/workspaces/&lt;user_id&gt;</a:t>
            </a:r>
            <a:r>
              <a:rPr sz="1100" b="0">
                <a:solidFill>
                  <a:srgbClr val="334155"/>
                </a:solidFill>
                <a:latin typeface="Arial"/>
              </a:rPr>
              <a:t> — die Zuordnung kommt aus der JWT-</a:t>
            </a:r>
            <a:r>
              <a:rPr sz="1100" b="0">
                <a:solidFill>
                  <a:srgbClr val="334155"/>
                </a:solidFill>
                <a:latin typeface="Consolas"/>
              </a:rPr>
              <a:t>user_id</a:t>
            </a:r>
            <a:r>
              <a:rPr sz="1100" b="0">
                <a:solidFill>
                  <a:srgbClr val="334155"/>
                </a:solidFill>
                <a:latin typeface="Arial"/>
              </a:rPr>
              <a:t>, nie aus Client-Parametern.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Sessions liegen in </a:t>
            </a:r>
            <a:r>
              <a:rPr sz="1100" b="0">
                <a:solidFill>
                  <a:srgbClr val="334155"/>
                </a:solidFill>
                <a:latin typeface="Consolas"/>
              </a:rPr>
              <a:t>opencode_sessions</a:t>
            </a:r>
            <a:r>
              <a:rPr sz="1100" b="0">
                <a:solidFill>
                  <a:srgbClr val="334155"/>
                </a:solidFill>
                <a:latin typeface="Arial"/>
              </a:rPr>
              <a:t> mit </a:t>
            </a:r>
            <a:r>
              <a:rPr sz="1100" b="0">
                <a:solidFill>
                  <a:srgbClr val="334155"/>
                </a:solidFill>
                <a:latin typeface="Consolas"/>
              </a:rPr>
              <a:t>owner_id</a:t>
            </a:r>
            <a:r>
              <a:rPr sz="1100" b="0">
                <a:solidFill>
                  <a:srgbClr val="334155"/>
                </a:solidFill>
                <a:latin typeface="Arial"/>
              </a:rPr>
              <a:t>; bei jedem Zugriff wird die Eigentümerschaft geprüft.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Der MCP-Tenant wird aus JWT bzw. </a:t>
            </a:r>
            <a:r>
              <a:rPr sz="1100" b="0">
                <a:solidFill>
                  <a:srgbClr val="334155"/>
                </a:solidFill>
                <a:latin typeface="Consolas"/>
              </a:rPr>
              <a:t>X-Session-Token</a:t>
            </a:r>
            <a:r>
              <a:rPr sz="1100" b="0">
                <a:solidFill>
                  <a:srgbClr val="334155"/>
                </a:solidFill>
                <a:latin typeface="Arial"/>
              </a:rPr>
              <a:t> gesetzt — nicht aus der Anfrage.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602" y="1572768"/>
            <a:ext cx="346649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362602" y="1572768"/>
            <a:ext cx="3466490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18634" y="1883664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Erlaubte Werkzeuge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8634" y="2395728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read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write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edit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bash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glob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grep</a:t>
            </a:r>
            <a:r>
              <a:rPr sz="1100" b="0">
                <a:solidFill>
                  <a:srgbClr val="334155"/>
                </a:solidFill>
                <a:latin typeface="Arial"/>
              </a:rPr>
              <a:t> — ausschließlich innerhalb des eigenen Workspaces.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webfetch</a:t>
            </a:r>
            <a:r>
              <a:rPr sz="1100" b="0">
                <a:solidFill>
                  <a:srgbClr val="334155"/>
                </a:solidFill>
                <a:latin typeface="Arial"/>
              </a:rPr>
              <a:t> und </a:t>
            </a:r>
            <a:r>
              <a:rPr sz="1100" b="0">
                <a:solidFill>
                  <a:srgbClr val="334155"/>
                </a:solidFill>
                <a:latin typeface="Consolas"/>
              </a:rPr>
              <a:t>websearch</a:t>
            </a:r>
            <a:r>
              <a:rPr sz="1100" b="0">
                <a:solidFill>
                  <a:srgbClr val="334155"/>
                </a:solidFill>
                <a:latin typeface="Arial"/>
              </a:rPr>
              <a:t> für Recherche; </a:t>
            </a:r>
            <a:r>
              <a:rPr sz="1100" b="0">
                <a:solidFill>
                  <a:srgbClr val="334155"/>
                </a:solidFill>
                <a:latin typeface="Consolas"/>
              </a:rPr>
              <a:t>smarttable_*</a:t>
            </a:r>
            <a:r>
              <a:rPr sz="1100" b="0">
                <a:solidFill>
                  <a:srgbClr val="334155"/>
                </a:solidFill>
                <a:latin typeface="Arial"/>
              </a:rPr>
              <a:t> und </a:t>
            </a:r>
            <a:r>
              <a:rPr sz="1100" b="0">
                <a:solidFill>
                  <a:srgbClr val="334155"/>
                </a:solidFill>
                <a:latin typeface="Consolas"/>
              </a:rPr>
              <a:t>question</a:t>
            </a:r>
            <a:r>
              <a:rPr sz="1100" b="0">
                <a:solidFill>
                  <a:srgbClr val="334155"/>
                </a:solidFill>
                <a:latin typeface="Arial"/>
              </a:rPr>
              <a:t> für Schuldaten und Rückfragen.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</a:t>
            </a:r>
            <a:r>
              <a:rPr sz="1100" b="0">
                <a:solidFill>
                  <a:srgbClr val="334155"/>
                </a:solidFill>
                <a:latin typeface="Consolas"/>
              </a:rPr>
              <a:t>skill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task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todo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patch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lsp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plan</a:t>
            </a:r>
            <a:r>
              <a:rPr sz="1100" b="0">
                <a:solidFill>
                  <a:srgbClr val="334155"/>
                </a:solidFill>
                <a:latin typeface="Arial"/>
              </a:rPr>
              <a:t>, </a:t>
            </a:r>
            <a:r>
              <a:rPr sz="1100" b="0">
                <a:solidFill>
                  <a:srgbClr val="334155"/>
                </a:solidFill>
                <a:latin typeface="Consolas"/>
              </a:rPr>
              <a:t>execute</a:t>
            </a:r>
            <a:r>
              <a:rPr sz="1100" b="0">
                <a:solidFill>
                  <a:srgbClr val="334155"/>
                </a:solidFill>
                <a:latin typeface="Arial"/>
              </a:rPr>
              <a:t> bleiben gesperrt und werden vor jedem Prompt erneut gesetzt.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5124" y="1572768"/>
            <a:ext cx="346649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85124" y="1572768"/>
            <a:ext cx="3466490" cy="82296"/>
          </a:xfrm>
          <a:prstGeom prst="rect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41156" y="1883664"/>
            <a:ext cx="29544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Uploads &amp; Ausgaben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2395728"/>
            <a:ext cx="295442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Maximal 5 Dateien à 10 MB pro Nachricht; Typ-, Größen- und Anzahl-Guard.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Pfad-Härtung durch </a:t>
            </a:r>
            <a:r>
              <a:rPr sz="1100" b="0">
                <a:solidFill>
                  <a:srgbClr val="334155"/>
                </a:solidFill>
                <a:latin typeface="Consolas"/>
              </a:rPr>
              <a:t>filepath.Base</a:t>
            </a:r>
            <a:r>
              <a:rPr sz="1100" b="0">
                <a:solidFill>
                  <a:srgbClr val="334155"/>
                </a:solidFill>
                <a:latin typeface="Arial"/>
              </a:rPr>
              <a:t>, Traversal-Guard, keine Ausführung hochgeladener Dateien.</a:t>
            </a:r>
          </a:p>
          <a:p>
            <a:pPr algn="l" marL="219456" indent="-219456">
              <a:lnSpc>
                <a:spcPct val="115000"/>
              </a:lnSpc>
              <a:spcAft>
                <a:spcPts val="11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•  Ausgaben landen in </a:t>
            </a:r>
            <a:r>
              <a:rPr sz="1100" b="0">
                <a:solidFill>
                  <a:srgbClr val="334155"/>
                </a:solidFill>
                <a:latin typeface="Consolas"/>
              </a:rPr>
              <a:t>outputs/s&lt;session_id&gt;/</a:t>
            </a:r>
            <a:r>
              <a:rPr sz="1100" b="0">
                <a:solidFill>
                  <a:srgbClr val="334155"/>
                </a:solidFill>
                <a:latin typeface="Arial"/>
              </a:rPr>
              <a:t> und werden als Download-Chips mit Ownership-Check ausgeliefert.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05855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Grundsatz: </a:t>
            </a:r>
            <a:r>
              <a:rPr sz="1200" b="1">
                <a:solidFill>
                  <a:srgbClr val="64748B"/>
                </a:solidFill>
                <a:latin typeface="Arial"/>
              </a:rPr>
              <a:t>Das Go-Backend ist die Sicherheitsgrenze</a:t>
            </a:r>
            <a:r>
              <a:rPr sz="1200" b="0">
                <a:solidFill>
                  <a:srgbClr val="64748B"/>
                </a:solidFill>
                <a:latin typeface="Arial"/>
              </a:rPr>
              <a:t>, OpenCode ist nur die Agent-Runtime.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QUALITÄT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Qualitätssicherung: automatisiert geprüft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72768"/>
          <a:ext cx="10911534" cy="27157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73460"/>
                <a:gridCol w="7638074"/>
              </a:tblGrid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Was abgesichert wird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handler_test.go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Rollen-Matrix der Benutzeranlage und Schreibrechte für Hausaufgaben und Vertretungen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permissions_test.go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Lehrkräfte sehen nur ihre Klassen; Schüler:innen erreichen keine Admin-Endpunkte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permissions_test.go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Schul-Admins bleiben in ihrer Schule; nur der Superadmin legt Schulen an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chat_test.go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Zugriff über Schulgrenzen verboten, Fremde können keinem Kanal beitreten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chat_test.go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Lehrkraft und Schüler:in einer gemeinsamen Klasse können sich schreiben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courses_test.go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Kurszuordnung und Sichtbarkeit sind pro Nutzer isoliert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mcp_test.go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MCP-Tenant-Isolation, Datumsfilter, öffentliche Tool-Liste, Vokabel-Schreibzugriff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34155"/>
                          </a:solidFill>
                          <a:latin typeface="Consolas"/>
                        </a:rPr>
                        <a:t>opencode_steps_test.go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Arial"/>
                        </a:rPr>
                        <a:t>Parsing der Agent-Antworten, Step-Mapping, Datei-Helfer, Rechte-Scoping</a:t>
                      </a:r>
                    </a:p>
                  </a:txBody>
                  <a:tcPr marL="91440" marR="9144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489704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64748B"/>
                </a:solidFill>
                <a:latin typeface="Arial"/>
              </a:rPr>
              <a:t>26 Testfunktionen in 6 Dateien.</a:t>
            </a:r>
            <a:r>
              <a:rPr sz="1100" b="0">
                <a:solidFill>
                  <a:srgbClr val="64748B"/>
                </a:solidFill>
                <a:latin typeface="Arial"/>
              </a:rPr>
              <a:t> Die CI führt </a:t>
            </a:r>
            <a:r>
              <a:rPr sz="1100" b="0">
                <a:solidFill>
                  <a:srgbClr val="64748B"/>
                </a:solidFill>
                <a:latin typeface="Consolas"/>
              </a:rPr>
              <a:t>go vet ./...</a:t>
            </a:r>
            <a:r>
              <a:rPr sz="1100" b="0">
                <a:solidFill>
                  <a:srgbClr val="64748B"/>
                </a:solidFill>
                <a:latin typeface="Arial"/>
              </a:rPr>
              <a:t> und </a:t>
            </a:r>
            <a:r>
              <a:rPr sz="1100" b="0">
                <a:solidFill>
                  <a:srgbClr val="64748B"/>
                </a:solidFill>
                <a:latin typeface="Consolas"/>
              </a:rPr>
              <a:t>go test ./...</a:t>
            </a:r>
            <a:r>
              <a:rPr sz="1100" b="0">
                <a:solidFill>
                  <a:srgbClr val="64748B"/>
                </a:solidFill>
                <a:latin typeface="Arial"/>
              </a:rPr>
              <a:t> gegen einen echten Postgres-Service aus (Migrationen laufen vorher), dazu </a:t>
            </a:r>
            <a:r>
              <a:rPr sz="1100" b="0">
                <a:solidFill>
                  <a:srgbClr val="64748B"/>
                </a:solidFill>
                <a:latin typeface="Consolas"/>
              </a:rPr>
              <a:t>npm ci</a:t>
            </a:r>
            <a:r>
              <a:rPr sz="1100" b="0">
                <a:solidFill>
                  <a:srgbClr val="64748B"/>
                </a:solidFill>
                <a:latin typeface="Arial"/>
              </a:rPr>
              <a:t> und </a:t>
            </a:r>
            <a:r>
              <a:rPr sz="1100" b="0">
                <a:solidFill>
                  <a:srgbClr val="64748B"/>
                </a:solidFill>
                <a:latin typeface="Consolas"/>
              </a:rPr>
              <a:t>npm run build</a:t>
            </a:r>
            <a:r>
              <a:rPr sz="1100" b="0">
                <a:solidFill>
                  <a:srgbClr val="64748B"/>
                </a:solidFill>
                <a:latin typeface="Arial"/>
              </a:rPr>
              <a:t> inklusive TypeScript-Check (</a:t>
            </a:r>
            <a:r>
              <a:rPr sz="1100" b="0">
                <a:solidFill>
                  <a:srgbClr val="64748B"/>
                </a:solidFill>
                <a:latin typeface="Consolas"/>
              </a:rPr>
              <a:t>tsc -b</a:t>
            </a:r>
            <a:r>
              <a:rPr sz="1100" b="0">
                <a:solidFill>
                  <a:srgbClr val="64748B"/>
                </a:solidFill>
                <a:latin typeface="Arial"/>
              </a:rPr>
              <a:t>). Das Schema umfasst acht Migrationen (001 bis 008).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Offene Punkte und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18607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Direkt als Nächstes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76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Thinking-Steps im KI-Chat sichtbar machen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Absturz „OpenCode-Backend offline“ beim Datei-Upload eingrenzen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Administrationsbereich für Admin- und Lehrkraft-Konten ausbauen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Vertretungsplan von SchoolConnect zuverlässig lesen (Fallback statt Fehler)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Testabdeckung auf Dateien, Vokabeln und Kalender ausweiten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72768"/>
            <a:ext cx="5318607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7327" y="1810512"/>
            <a:ext cx="476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Arial"/>
              </a:rPr>
              <a:t>Bekannte Grenzen im Betrieb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267712"/>
            <a:ext cx="476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Ein gemeinsamer OpenCode-Prozess bedient alle Nutzer: Latenz steigt unter Last, Provider-Limits gelten global.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Kein Locking und keine Queue — parallele Generierungen teilen sich einen API-Schlüssel.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Kein automatisches Aufräumen von Uploads und Outputs; beim Löschen einer Session werden sie best-effort entfernt.</a:t>
            </a:r>
          </a:p>
          <a:p>
            <a:pPr algn="l" marL="219456" indent="-219456">
              <a:lnSpc>
                <a:spcPct val="115000"/>
              </a:lnSpc>
              <a:spcAft>
                <a:spcPts val="100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•  Der Deploy läuft mit festen Ports pro Host — Portkonflikte müssen manuell aufgelöst werden.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Zusammenfassung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45720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5803D"/>
                </a:solidFill>
                <a:latin typeface="Arial"/>
              </a:rPr>
              <a:t>Vollständig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91640"/>
            <a:ext cx="8168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Ein durchgängiger, rollenbasierter Schulplaner — von Login über Stundenplan, Chat und Dateien bis zur Lern-KI.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50591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40080" y="2450591"/>
            <a:ext cx="45720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56946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5803D"/>
                </a:solidFill>
                <a:latin typeface="Arial"/>
              </a:rPr>
              <a:t>Klar getrennt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9463"/>
            <a:ext cx="8168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Statisches Frontend, ein Go-Backend als Sicherheitsgrenze, Postgres als System-of-Record, externe Dienste als gekapselte Sidecars.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28415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3328415"/>
            <a:ext cx="45720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344728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5803D"/>
                </a:solidFill>
                <a:latin typeface="Arial"/>
              </a:rPr>
              <a:t>Mandantenfähig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47287"/>
            <a:ext cx="8168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SchoolConnect und OpenCode sind pro Nutzer isoliert — Zugangsdaten und Workspaces bleiben getrennt.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06240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45720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5803D"/>
                </a:solidFill>
                <a:latin typeface="Arial"/>
              </a:rPr>
              <a:t>Automatisiert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25112"/>
            <a:ext cx="8168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CI prüft Backend und Frontend, CD deployt nach grünem Lauf auf zwei getrennte Umgebungen — Dev und Prod.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84064"/>
            <a:ext cx="10911535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40080" y="5084064"/>
            <a:ext cx="45720" cy="7863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4400" y="52029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5803D"/>
                </a:solidFill>
                <a:latin typeface="Arial"/>
              </a:rPr>
              <a:t>Erweiterbar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202936"/>
            <a:ext cx="8168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334155"/>
                </a:solidFill>
                <a:latin typeface="Arial"/>
              </a:rPr>
              <a:t>Neue Endpunkte entstehen aus der </a:t>
            </a:r>
            <a:r>
              <a:rPr sz="1150" b="0">
                <a:solidFill>
                  <a:srgbClr val="334155"/>
                </a:solidFill>
                <a:latin typeface="Consolas"/>
              </a:rPr>
              <a:t>openapi.yaml</a:t>
            </a:r>
            <a:r>
              <a:rPr sz="1150" b="0">
                <a:solidFill>
                  <a:srgbClr val="334155"/>
                </a:solidFill>
                <a:latin typeface="Arial"/>
              </a:rPr>
              <a:t>; die Codegenerierung hält Go und TypeScript automatisch synchron.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8729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A34A"/>
                </a:solidFill>
                <a:latin typeface="Consolas"/>
              </a:rPr>
              <a:t>ANHANG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Arial"/>
              </a:rPr>
              <a:t>Lokaler Start und Test-Zugänge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08176"/>
            <a:ext cx="822960" cy="411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6001344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5452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In vier Schritten startklar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31136"/>
            <a:ext cx="545270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15803D"/>
                </a:solidFill>
                <a:latin typeface="Consolas"/>
              </a:rPr>
              <a:t>docker compose up -d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64748B"/>
                </a:solidFill>
                <a:latin typeface="Consolas"/>
              </a:rPr>
              <a:t># Postgres + Migrationen laufen automatisch mit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Backend: go run ./cmd/server  (Port und DATABASE_URL per Umgebung)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Seed-Daten: go run ./seed  → Testkonten für alle drei Rollen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Frontend: npm run dev  → http://localhost:5173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5744" y="1572768"/>
            <a:ext cx="4635870" cy="2743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90064" y="1810512"/>
            <a:ext cx="39957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Arial"/>
              </a:rPr>
              <a:t>Test-Zugänge aus dem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0064" y="228600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3064" y="22860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admin@schule.de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4704" y="2286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803D"/>
                </a:solidFill>
                <a:latin typeface="Consolas"/>
              </a:rPr>
              <a:t>admin123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0064" y="263347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Lehrkraft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3064" y="263347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mueller@schule.de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4704" y="26334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803D"/>
                </a:solidFill>
                <a:latin typeface="Consolas"/>
              </a:rPr>
              <a:t>lehrer123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0064" y="298094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Arial"/>
              </a:rPr>
              <a:t>Schüler:in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3064" y="298094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Consolas"/>
              </a:rPr>
              <a:t>schueler1@schule.de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4704" y="298094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5803D"/>
                </a:solidFill>
                <a:latin typeface="Consolas"/>
              </a:rPr>
              <a:t>schueler123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0064" y="3419856"/>
            <a:ext cx="39957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Arial"/>
              </a:rPr>
              <a:t>Nur für die lokale Entwicklung gedacht — kein Produktions-Seed. Deploy: Push auf </a:t>
            </a:r>
            <a:r>
              <a:rPr sz="1050" b="0">
                <a:solidFill>
                  <a:srgbClr val="64748B"/>
                </a:solidFill>
                <a:latin typeface="Consolas"/>
              </a:rPr>
              <a:t>develop</a:t>
            </a:r>
            <a:r>
              <a:rPr sz="1050" b="0">
                <a:solidFill>
                  <a:srgbClr val="64748B"/>
                </a:solidFill>
                <a:latin typeface="Arial"/>
              </a:rPr>
              <a:t> → Dev, Push auf </a:t>
            </a:r>
            <a:r>
              <a:rPr sz="1050" b="0">
                <a:solidFill>
                  <a:srgbClr val="64748B"/>
                </a:solidFill>
                <a:latin typeface="Consolas"/>
              </a:rPr>
              <a:t>main</a:t>
            </a:r>
            <a:r>
              <a:rPr sz="1050" b="0">
                <a:solidFill>
                  <a:srgbClr val="64748B"/>
                </a:solidFill>
                <a:latin typeface="Arial"/>
              </a:rPr>
              <a:t> → Prod.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743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BF7D0"/>
                </a:solidFill>
                <a:latin typeface="Consolas"/>
              </a:rPr>
              <a:t>VIELEN DANK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Fragen &amp; Live-Demo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4160520"/>
            <a:ext cx="1005840" cy="45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BF7D0"/>
                </a:solidFill>
                <a:latin typeface="Arial"/>
              </a:rPr>
              <a:t>Dev: christoph.codeclub.check24.fun   ·   Prod: emanuel.codeclub.check24.fun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272784"/>
            <a:ext cx="10911535" cy="10972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76380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BF7D0"/>
                </a:solidFill>
                <a:latin typeface="Arial"/>
              </a:rPr>
              <a:t>SmartTable · Rollenbasierter Schulplaner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6382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